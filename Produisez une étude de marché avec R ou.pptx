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5" r:id="rId3"/>
    <p:sldId id="268" r:id="rId4"/>
    <p:sldId id="271" r:id="rId5"/>
    <p:sldId id="270" r:id="rId6"/>
    <p:sldId id="272" r:id="rId7"/>
    <p:sldId id="276" r:id="rId8"/>
    <p:sldId id="277" r:id="rId9"/>
    <p:sldId id="259" r:id="rId10"/>
    <p:sldId id="274" r:id="rId11"/>
    <p:sldId id="275" r:id="rId12"/>
    <p:sldId id="258" r:id="rId13"/>
    <p:sldId id="278" r:id="rId14"/>
    <p:sldId id="279" r:id="rId15"/>
    <p:sldId id="257" r:id="rId16"/>
    <p:sldId id="260" r:id="rId17"/>
    <p:sldId id="266" r:id="rId18"/>
    <p:sldId id="282" r:id="rId19"/>
    <p:sldId id="280" r:id="rId20"/>
    <p:sldId id="281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15T14:51:17.6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77 24575,'62'-1'0,"247"3"0,-78 19 0,-360-65 0,71 33 0,0 2 0,-1 2 0,-101 3 0,153 6 0,7 0 0,17 6 0,26 7 0,-8-7 0,0-1 0,72 3 0,72-10 0,33 1 0,-182 7 0,-25-2 0,-22-1 0,-29-1 0,-73-4 0,76-1 0,-1 1 0,-44 7 0,68 0 0,20-7 0,-1 0 0,1 0 0,0 1 0,0-1 0,-1 0 0,1 0 0,0 0 0,0 1 0,0-1 0,-1 0 0,1 0 0,0 1 0,0-1 0,0 0 0,0 0 0,0 1 0,0-1 0,-1 0 0,1 0 0,0 1 0,0-1 0,0 0 0,0 1 0,0-1 0,0 0 0,0 0 0,0 1 0,0-1 0,0 0 0,0 1 0,0-1 0,1 0 0,-1 1 0,1 0 0,1 1 0,-1-1 0,1 1 0,-1-1 0,1 0 0,0 0 0,0 0 0,-1 0 0,1 0 0,0 0 0,0 0 0,0-1 0,0 1 0,0-1 0,2 1 0,39 6 0,1-2 0,0-1 0,76-5 0,-53 0 0,351-1 0,-396 0 0,-30-4 0,-38-7 0,38 11 0,-114-20 0,95 20 0,-1-2 0,1-2 0,0 0 0,-46-18 0,72 24 0,0-1 0,0 1 0,0 0 0,0-1 0,0 1 0,0-1 0,0 1 0,0-1 0,0 1 0,0-1 0,1 0 0,-1 1 0,0-1 0,0 0 0,1 0 0,-1 0 0,0 0 0,1 0 0,-1 0 0,1 1 0,-1-3 0,1 3 0,0-1 0,1 0 0,-1 1 0,0-1 0,1 1 0,-1-1 0,1 0 0,-1 1 0,0-1 0,1 1 0,0-1 0,-1 1 0,1-1 0,-1 1 0,1 0 0,-1-1 0,1 1 0,0 0 0,-1 0 0,1-1 0,0 1 0,1 0 0,48-10 0,127 10 0,-4-1 0,-171 1 0,1 0 0,-1 0 0,1-1 0,-1 1 0,0-1 0,1 1 0,-1-1 0,0 0 0,1 0 0,-1 0 0,2-1 0,-4 2 0,0 0 0,1 0 0,-1-1 0,0 1 0,0 0 0,0 0 0,0 0 0,0 0 0,0 0 0,0-1 0,0 1 0,0 0 0,0 0 0,0 0 0,0 0 0,0-1 0,0 1 0,0 0 0,0 0 0,0 0 0,0 0 0,0 0 0,0-1 0,0 1 0,0 0 0,-1 0 0,1 0 0,0 0 0,0 0 0,0 0 0,0-1 0,0 1 0,0 0 0,0 0 0,0 0 0,-1 0 0,1 0 0,0 0 0,0 0 0,0 0 0,0 0 0,0 0 0,-1-1 0,1 1 0,0 0 0,0 0 0,0 0 0,-21-4 0,-76-3 0,-102 6 0,99 2 0,81-1 0,-11 0 0,0 1 0,-56 9 0,85-10 0,0 0 0,1 0 0,-1 0 0,0 0 0,0 0 0,1 0 0,-1 0 0,0 0 0,1 0 0,-1 0 0,1 1 0,-1-1 0,0 0 0,1 1 0,-1-1 0,1 0 0,-1 1 0,0-1 0,1 1 0,-1-1 0,1 1 0,-1 0 0,14 4 0,30-2 0,446-1 0,-307-3 0,-857 1-1365,654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15T14:52:24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 24575,'-4'0'0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15T14:52:34.5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511 0 24575,'352'20'0,"-78"-1"0,501-14 0,-818 0 0,0 3 0,-47 15 0,-121 23 0,92-42 0,642-21 0,-104 12 0,-296 5 0,-116 0 0,0-1 0,-1 0 0,1-1 0,0 0 0,0 0 0,-1 0 0,0-1 0,12-6 0,-9 4 0,0 1 0,-1 1 0,1-1 0,14-2 0,53-11 0,-155 12 0,54 7 0,-46 8 0,46-6 0,-47 3 0,-74-8 0,-97 2 0,154 10 0,56-6 0,-51 1 0,1034-7 0,-1557 14 0,-19-3 0,427-11 0,175 0 0,0-1 0,-26-6 0,26 3 0,-47-2 0,33 7 0,25 2 0,0-2 0,0 0 0,0-1 0,0 0 0,0-1 0,0 0 0,0-1 0,-16-6 0,28 9 0,0 0 0,0 0 0,1-1 0,-1 1 0,0 0 0,0 0 0,1-1 0,-1 1 0,0 0 0,1-1 0,-1 1 0,1-1 0,-1 1 0,1-1 0,-1 1 0,1-1 0,-1 0 0,1 1 0,-1-1 0,1 1 0,-1-1 0,1 0 0,0 0 0,0 1 0,-1-2 0,1 1 0,1 1 0,0-1 0,-1 1 0,1-1 0,-1 0 0,1 1 0,0-1 0,-1 1 0,1 0 0,0-1 0,-1 1 0,1-1 0,0 1 0,0 0 0,-1 0 0,1-1 0,0 1 0,1 0 0,43-5 0,329 3 0,-180 4 0,-171-2 0,-1 1 0,1 1 0,38 8 0,-61-10 0,0 0 0,0 0 0,0 0 0,0 1 0,0-1 0,0 0 0,0 0 0,0 0 0,0 0 0,0 0 0,0 0 0,0 0 0,0 1 0,0-1 0,0 0 0,0 0 0,0 0 0,0 0 0,0 0 0,0 0 0,0 0 0,0 1 0,0-1 0,0 0 0,0 0 0,0 0 0,0 0 0,0 0 0,0 0 0,0 0 0,0 0 0,0 1 0,0-1 0,0 0 0,0 0 0,1 0 0,-1 0 0,0 0 0,0 0 0,0 0 0,0 0 0,0 0 0,0 0 0,0 0 0,0 0 0,1 0 0,-1 0 0,0 0 0,0 0 0,0 0 0,0 0 0,0 0 0,0 0 0,0 0 0,1 0 0,-1 0 0,0 0 0,0 0 0,0 0 0,0 0 0,0 0 0,0 0 0,0 0 0,1 0 0,-1 0 0,0 0 0,-13 3 0,-21-1 0,-826-1 0,418-3 0,423 1 0,1-1 0,-33-8 0,10 2 0,22 2 0,19 6 0,0 0 0,-1 0 0,1 0 0,0-1 0,0 1 0,0 0 0,0 0 0,0 0 0,0 0 0,0-1 0,0 1 0,0 0 0,0 0 0,0 0 0,0 0 0,0 0 0,0-1 0,0 1 0,0 0 0,0 0 0,0 0 0,0 0 0,0-1 0,0 1 0,0 0 0,0 0 0,0 0 0,1 0 0,-1 0 0,0-1 0,0 1 0,0 0 0,0 0 0,0 0 0,0 0 0,0 0 0,0 0 0,1 0 0,-1 0 0,0-1 0,0 1 0,0 0 0,0 0 0,0 0 0,1 0 0,-1 0 0,0 0 0,0 0 0,1 0 0,35-8 0,67 7 0,138 14 0,-120-4 0,-15 1 0,69 1 0,-153-12 0,25 1 0,-44 0 0,-1 0 0,1 0 0,-1 1 0,1-1 0,-1 1 0,1 0 0,-1-1 0,1 1 0,-1 0 0,1 1 0,-1-1 0,0 0 0,3 3 0,-4-3 0,-1 0 0,1 0 0,-1-1 0,1 1 0,-1 0 0,0 0 0,1 0 0,-1 0 0,0 0 0,0 0 0,0 0 0,0 0 0,0 0 0,0 0 0,0 0 0,0 0 0,0 0 0,0 0 0,0 0 0,-1 0 0,1-1 0,0 1 0,-1 0 0,1 0 0,-1 0 0,1 0 0,-1 0 0,1-1 0,-1 1 0,1 0 0,-1 0 0,0-1 0,0 1 0,1 0 0,-1-1 0,0 1 0,0-1 0,0 1 0,-1 0 0,-35 21 0,26-17 0,-1-1 0,0 0 0,0-1 0,0-1 0,0 0 0,-21 1 0,-79-5 0,41-1 0,45 2 0,-45-9 0,44 5 0,-43-1 0,13 6 0,13 1 0,0-2 0,-69-11 0,-70-11 0,160 20 0,-4-1 0,0-1 0,-29-9 0,96 9 0,885 6 0,-1627-1 0,774 0 0,35-1 0,121 15 0,-119-7 0,-31-4 0,-2 8 0,14 0 0,-630-13 0,282 3 0,254 0 0,-1-1 0,0-1 0,1 1 0,-1 0 0,0-1 0,1 0 0,-1 0 0,1 0 0,-7-4 0,11 5 0,0 0 0,0 0 0,1 0 0,-1 0 0,0 0 0,0 0 0,0 0 0,1 0 0,-1 0 0,0 0 0,0 0 0,0 0 0,0 0 0,1 0 0,-1 0 0,0 0 0,0 0 0,0-1 0,0 1 0,0 0 0,1 0 0,-1 0 0,0 0 0,0 0 0,0-1 0,0 1 0,0 0 0,0 0 0,0 0 0,0 0 0,0-1 0,0 1 0,1 0 0,-1 0 0,0 0 0,0 0 0,0-1 0,0 1 0,0 0 0,0 0 0,0 0 0,0-1 0,0 1 0,-1 0 0,1 0 0,0 0 0,0 0 0,0-1 0,0 1 0,0 0 0,0 0 0,0 0 0,0 0 0,0 0 0,0-1 0,-1 1 0,1 0 0,0 0 0,0 0 0,0 0 0,0 0 0,0 0 0,-1-1 0,1 1 0,0 0 0,0 0 0,-1 0 0,17-3 0,66-2 0,102 5 0,-69 3 0,162 14 0,-95-11-285,-141-7-795,-23 1-5746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2-15T14:53:21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1261 57 24575,'0'-2'0,"1"1"0,-1 0 0,1 0 0,0 0 0,-1-1 0,1 1 0,0 0 0,0 0 0,0 0 0,0 0 0,0 0 0,0 0 0,0 1 0,0-1 0,0 0 0,0 0 0,1 1 0,-1-1 0,0 1 0,0-1 0,1 1 0,-1 0 0,0-1 0,1 1 0,-1 0 0,1 0 0,1 0 0,39-3 0,-16 5 0,40 8 0,-39-5 0,38 2 0,-58-7 0,41 2 0,77 11 0,80 13 0,-159-20 0,1-2 0,71-4 0,-109 0 0,-517 0 0,830-16 0,-194 9 0,-30 3 0,-94 3 0,-1 1 0,0 0 0,0-1 0,0 0 0,0 1 0,0-1 0,0 0 0,0-1 0,0 1 0,3-2 0,-5 2 0,-1 1 0,0 0 0,0 0 0,1-1 0,-1 1 0,0 0 0,1-1 0,-1 1 0,0 0 0,0-1 0,0 1 0,1 0 0,-1-1 0,0 1 0,0-1 0,0 1 0,0 0 0,0-1 0,0 1 0,0-1 0,0 1 0,0 0 0,0-1 0,0 1 0,0-1 0,0 1 0,0 0 0,0-2 0,-1 1 0,0 0 0,0-1 0,0 1 0,0 0 0,0 0 0,0 0 0,0-1 0,-1 1 0,1 0 0,0 1 0,-1-1 0,-1-1 0,-9-4 0,-1 0 0,1 0 0,-1 1 0,-1 1 0,1 0 0,-1 1 0,0 1 0,-18-2 0,-18 2 0,-50 4 0,28 0 0,-1035-1 0,1088 2 0,27 3 0,32 5 0,28-6 0,123-5 0,35 1 0,-156 11 0,-51-7 0,0-2 0,28 2 0,-41-5 0,1 0 0,0 0 0,-1 1 0,1 0 0,-1 0 0,1 1 0,-1-1 0,0 2 0,12 4 0,-18-7 0,-1 1 0,1-1 0,0 1 0,0-1 0,-1 0 0,1 1 0,0-1 0,-1 0 0,1 1 0,-1-1 0,1 0 0,0 1 0,-1-1 0,1 0 0,-1 0 0,1 1 0,-1-1 0,1 0 0,-1 0 0,1 0 0,-1 0 0,1 0 0,-1 1 0,1-1 0,-1 0 0,1 0 0,-1 0 0,1-1 0,-1 1 0,1 0 0,-1 0 0,-24 3 0,-165 9 0,-128 3 0,285-15 0,-1-1 0,1-2 0,-50-10 0,51 8 0,9 1 0,48 2 0,456 3 0,-475-1 0,-3 1 0,0-1 0,0 0 0,0 0 0,0 0 0,0 0 0,0-1 0,0 1 0,1-1 0,-1 0 0,0 0 0,-1 0 0,1 0 0,0 0 0,3-3 0,-6 4 0,0-1 0,0 1 0,0-1 0,0 1 0,0 0 0,0-1 0,-1 1 0,1-1 0,0 1 0,0 0 0,-1-1 0,1 1 0,0 0 0,0-1 0,-1 1 0,1 0 0,0-1 0,-1 1 0,1 0 0,-1 0 0,1-1 0,0 1 0,-1 0 0,1 0 0,-1 0 0,1 0 0,0-1 0,-1 1 0,1 0 0,-1 0 0,1 0 0,-1 0 0,1 0 0,-1 0 0,1 0 0,0 0 0,-1 0 0,-24-4 0,23 4 0,-147-17 0,-250 6 0,372 10 0,-1-2 0,-30-6 0,28 4 0,-44-3 0,-230 8 0,188 1 0,164 1 0,49 9 0,49 2 0,-109-12 0,0 1 0,49 10 0,-20-6 0,-52-6 0,1 1 0,-1 0 0,23 6 0,-36-7 0,-1 0 0,1 0 0,-1 0 0,1 0 0,-1 0 0,0 0 0,1 0 0,-1 1 0,1-1 0,-1 0 0,1 0 0,-1 0 0,0 0 0,1 1 0,-1-1 0,1 0 0,-1 0 0,0 1 0,1-1 0,-1 0 0,0 0 0,0 1 0,1-1 0,-1 0 0,0 1 0,0-1 0,1 1 0,-1-1 0,0 0 0,0 1 0,0-1 0,1 1 0,-14 5 0,-25 0 0,-289-4 0,194-4 0,1141 2 0,-1236-12 0,27-1 0,-87 0 77,-90-1-1519,351 15-5384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92EC6-03C1-4BAA-A075-87BD01775A23}" type="datetimeFigureOut">
              <a:rPr lang="fr-FR" smtClean="0"/>
              <a:t>07/01/2022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F315D-3CB5-4B1B-9E01-56B350A34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52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C35EF9-255F-48C6-BBCC-4C7CFC9F1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6D53C1-141A-433E-A6A4-D0B815E5F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67BCB-7245-4FB2-97DC-FB501E53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63D46-3FEE-4DA3-B174-D6195DF4B543}" type="datetime1">
              <a:rPr lang="fr-FR" smtClean="0"/>
              <a:t>07/01/2022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7C9886-0681-4169-86E2-4ADCB94F4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63DCF5-C135-4B35-9C9A-E3E035BE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106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700DBC-5308-47E7-89C1-FAD7B299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99DAEA-1530-4E08-BA5F-9EEA4F72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A5B26A-2557-4973-A5F8-E9D4C36A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37E3D-7090-454B-9237-448B4018F320}" type="datetime1">
              <a:rPr lang="fr-FR" smtClean="0"/>
              <a:t>07/01/2022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BA6C6-4633-442C-8B14-9B494648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C02BFA-3CD6-4774-B00D-9C64D118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39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D78847-5394-4741-9A42-741CD021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B120B4-45BE-4272-8820-93F195C57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EF3719-147F-42D6-86B0-4DAF554F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58256-DD1A-4E2C-AF63-E5302497AB8F}" type="datetime1">
              <a:rPr lang="fr-FR" smtClean="0"/>
              <a:t>07/01/2022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119FB5-491C-4F06-BCEB-74B43486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99CC3C-9BEF-4426-AC56-C9ACA80D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5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60573D-4AAC-492E-A947-1F6B82DA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281257-A7D2-4880-B9A6-D4209BE0D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C7FBF2-A175-4B8B-88EC-F8519F611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6C4917-8AAE-47E6-B310-F5E4EFC6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7604-A0F9-425F-80F5-6FD50085D8A0}" type="datetime1">
              <a:rPr lang="fr-FR" smtClean="0"/>
              <a:t>07/01/2022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041699-7CC5-4A3E-B07A-269AEEEB6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626250-BA32-4D6F-8707-46F8D7A2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33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808508-17E1-4C21-A01A-64A92B0FA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0C54C6-F06E-46AE-B140-DB14E9B27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00122E-AF1C-44F3-BEBF-225203767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A5E4FBB-46F3-4967-913C-33A55EEA2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B49D8C-8F90-4AE5-AC05-DBA1E8357A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4495B6-CA22-42C9-BE21-6C0646C1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55424-480E-422C-AF7B-97A568F785C5}" type="datetime1">
              <a:rPr lang="fr-FR" smtClean="0"/>
              <a:t>07/01/2022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D4471D3-CF82-45A0-A7F4-3C662907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4BE3A64-EC9B-4949-9C12-218FBAEA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7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789C57-EAD9-4D76-B3B1-00231FEA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3AE67D-85E3-4D60-A924-9AE7CCA5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DBF36-F511-42D6-B52D-E77682BF70A0}" type="datetime1">
              <a:rPr lang="fr-FR" smtClean="0"/>
              <a:t>07/01/2022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EA1C98-1E61-4799-BDF5-21F90F05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FADD94-B997-4B14-B2B0-9F083994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95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213AE3-BF02-4312-B6B5-31B82D9B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501EE-DD85-4984-8E14-9060B721A453}" type="datetime1">
              <a:rPr lang="fr-FR" smtClean="0"/>
              <a:t>07/01/2022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E888C87-626D-4B13-9301-AA578844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0557C6-DEBF-4C13-AB41-9FD6B35D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92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5EC3F-1483-4A3D-BE51-AAD1D20C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FFBB29-F39F-4E29-BA1D-21F9190C7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8998D9-F28C-4D4B-9F21-71A29CD75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B3A361-55BF-4302-818E-C138278CB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C014-9076-4EB0-B844-8CA0A6D143E9}" type="datetime1">
              <a:rPr lang="fr-FR" smtClean="0"/>
              <a:t>07/01/2022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601246-8DC8-4CC4-8FA9-F498A6EF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5ED7E1-1AE9-4BF4-90E2-83B02EB0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2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8EF11-E853-420A-B33F-FF35B186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9FC684-67EF-4E45-AE36-2A233AB36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ECFFA1-B42F-4EF4-B84D-6EB6C66D2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1217A5-B2AE-478C-8743-5AAEA8AA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AD77D-D9CF-4ACA-81C9-2600D95F8FC3}" type="datetime1">
              <a:rPr lang="fr-FR" smtClean="0"/>
              <a:t>07/01/2022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26A6D0-1C31-4464-BEB2-D207CABC3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9FF0CF-DF81-4061-9E54-9802E33D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CB8D27-D40A-4D7A-8AEF-75D92C10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7D0165-13BD-410F-9950-BD3F40A10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D744C6-C85C-47F5-A9D2-5173B12B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F0298-4EDE-4351-92AC-C3C078320FE4}" type="datetime1">
              <a:rPr lang="fr-FR" smtClean="0"/>
              <a:t>07/01/2022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76D3DB-0926-4EA2-AE29-C1F17C2E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2E5F6E-5284-4BBA-8194-2A78A952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58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0DC1EF9-CCA1-4922-9326-0B9F209FC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81B630-E638-4B0E-87B5-7479E11ED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81BA17-4353-46CB-8602-740BAD83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487C6-1C19-46DC-8E2E-7A8240E74E27}" type="datetime1">
              <a:rPr lang="fr-FR" smtClean="0"/>
              <a:t>07/01/2022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BAF739-1F82-431C-97FF-9AB29DCD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A021DE-847B-4350-B038-76E1CECB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61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652EDF4-2857-4136-AA5E-FDAA444A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A05A6D-5EF4-4F06-91A0-011EA5201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354F2F-0761-4D56-8878-9EA4F5961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25024-3429-40F6-B729-8A4CA16B53CA}" type="datetime1">
              <a:rPr lang="fr-FR" smtClean="0"/>
              <a:t>07/01/2022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A994D9-8B8C-4036-AC02-E96F70884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8CF65-E2F0-4A26-BB4D-41E0EFFC3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751A-B2C0-4510-AE17-F015534CEE7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52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7" Type="http://schemas.openxmlformats.org/officeDocument/2006/relationships/customXml" Target="../ink/ink3.xml"/><Relationship Id="rId12" Type="http://schemas.openxmlformats.org/officeDocument/2006/relationships/image" Target="../media/image2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.png"/><Relationship Id="rId5" Type="http://schemas.openxmlformats.org/officeDocument/2006/relationships/customXml" Target="../ink/ink2.xml"/><Relationship Id="rId10" Type="http://schemas.openxmlformats.org/officeDocument/2006/relationships/image" Target="../media/image130.png"/><Relationship Id="rId4" Type="http://schemas.openxmlformats.org/officeDocument/2006/relationships/image" Target="../media/image100.png"/><Relationship Id="rId9" Type="http://schemas.openxmlformats.org/officeDocument/2006/relationships/customXml" Target="../ink/ink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055594D-7743-432D-96AB-43C1BA984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04" r="15791" b="16188"/>
          <a:stretch/>
        </p:blipFill>
        <p:spPr>
          <a:xfrm>
            <a:off x="4421078" y="1733146"/>
            <a:ext cx="2921909" cy="14437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EBC6C36-FA4A-453B-884C-73196E5AF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525"/>
            <a:ext cx="9144000" cy="2387600"/>
          </a:xfrm>
        </p:spPr>
        <p:txBody>
          <a:bodyPr>
            <a:normAutofit/>
          </a:bodyPr>
          <a:lstStyle/>
          <a:p>
            <a:r>
              <a:rPr lang="fr-FR" sz="4000" b="1" i="0" dirty="0">
                <a:effectLst/>
                <a:latin typeface="Montserrat" panose="00000500000000000000" pitchFamily="2" charset="0"/>
              </a:rPr>
              <a:t>Produisez une étude de marché avec Python</a:t>
            </a:r>
            <a:br>
              <a:rPr lang="fr-FR" sz="4000" b="1" i="0" dirty="0">
                <a:effectLst/>
                <a:latin typeface="Montserrat" panose="00000500000000000000" pitchFamily="2" charset="0"/>
              </a:rPr>
            </a:br>
            <a:endParaRPr lang="fr-FR" sz="40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A925169-F1F8-49C2-98C3-F789B496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</a:t>
            </a:fld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1ECF863-4476-4802-86AF-85F0F954FE21}"/>
              </a:ext>
            </a:extLst>
          </p:cNvPr>
          <p:cNvSpPr txBox="1"/>
          <p:nvPr/>
        </p:nvSpPr>
        <p:spPr>
          <a:xfrm>
            <a:off x="9563470" y="6356350"/>
            <a:ext cx="23423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 err="1">
                <a:solidFill>
                  <a:srgbClr val="C00000"/>
                </a:solidFill>
                <a:latin typeface="Montserrat" panose="00000500000000000000" pitchFamily="2" charset="0"/>
              </a:rPr>
              <a:t>Khomsi_Sarah</a:t>
            </a:r>
            <a:endParaRPr lang="fr-FR" sz="1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9312655-8BC7-4047-BA04-BBAB97E02847}"/>
              </a:ext>
            </a:extLst>
          </p:cNvPr>
          <p:cNvSpPr txBox="1"/>
          <p:nvPr/>
        </p:nvSpPr>
        <p:spPr>
          <a:xfrm>
            <a:off x="1742241" y="3871844"/>
            <a:ext cx="914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 : Proposer une première analyse des groupements de pays pour exporter les poulets</a:t>
            </a:r>
          </a:p>
        </p:txBody>
      </p:sp>
    </p:spTree>
    <p:extLst>
      <p:ext uri="{BB962C8B-B14F-4D97-AF65-F5344CB8AC3E}">
        <p14:creationId xmlns:p14="http://schemas.microsoft.com/office/powerpoint/2010/main" val="24709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D358C-0AF0-4F9B-A117-C80522D4B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705" y="267467"/>
            <a:ext cx="10515600" cy="1325563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Montserrat" panose="00000500000000000000" pitchFamily="2" charset="0"/>
              </a:rPr>
              <a:t>Nettoyage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C12431-1CE5-4C7B-9725-05BCF5C8C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631" y="1477620"/>
            <a:ext cx="10515600" cy="1567417"/>
          </a:xfrm>
        </p:spPr>
        <p:txBody>
          <a:bodyPr>
            <a:normAutofit/>
          </a:bodyPr>
          <a:lstStyle/>
          <a:p>
            <a:r>
              <a:rPr lang="fr-FR" sz="2000" dirty="0">
                <a:latin typeface="Montserrat" panose="00000500000000000000" pitchFamily="2" charset="0"/>
              </a:rPr>
              <a:t>Sélection des données  </a:t>
            </a:r>
          </a:p>
          <a:p>
            <a:r>
              <a:rPr lang="fr-FR" sz="2000" dirty="0">
                <a:latin typeface="Montserrat" panose="00000500000000000000" pitchFamily="2" charset="0"/>
              </a:rPr>
              <a:t>Jointures</a:t>
            </a:r>
          </a:p>
          <a:p>
            <a:r>
              <a:rPr lang="fr-FR" sz="2000" dirty="0">
                <a:latin typeface="Montserrat" panose="00000500000000000000" pitchFamily="2" charset="0"/>
              </a:rPr>
              <a:t>Traitement des valeurs manquantes</a:t>
            </a:r>
          </a:p>
          <a:p>
            <a:pPr marL="0" indent="0">
              <a:buNone/>
            </a:pPr>
            <a:endParaRPr lang="fr-FR" sz="2000" dirty="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fr-FR" sz="2000" dirty="0">
              <a:latin typeface="Montserrat" panose="00000500000000000000" pitchFamily="2" charset="0"/>
            </a:endParaRPr>
          </a:p>
          <a:p>
            <a:endParaRPr lang="fr-FR" sz="2000" dirty="0">
              <a:latin typeface="Montserrat" panose="00000500000000000000" pitchFamily="2" charset="0"/>
            </a:endParaRPr>
          </a:p>
          <a:p>
            <a:endParaRPr lang="fr-FR" sz="2000" dirty="0">
              <a:latin typeface="Montserrat" panose="00000500000000000000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C493AB-3E93-45C1-981B-79E598C3FF52}"/>
              </a:ext>
            </a:extLst>
          </p:cNvPr>
          <p:cNvSpPr txBox="1"/>
          <p:nvPr/>
        </p:nvSpPr>
        <p:spPr>
          <a:xfrm>
            <a:off x="1024631" y="3907527"/>
            <a:ext cx="60945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anose="00000500000000000000" pitchFamily="2" charset="0"/>
              </a:rPr>
              <a:t>Analyse en Composantes Principales (ACP)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anose="00000500000000000000" pitchFamily="2" charset="0"/>
              </a:rPr>
              <a:t>C</a:t>
            </a:r>
            <a:r>
              <a:rPr lang="fr-FR" sz="2000" i="0" dirty="0">
                <a:effectLst/>
                <a:latin typeface="Montserrat" panose="00000500000000000000" pitchFamily="2" charset="0"/>
              </a:rPr>
              <a:t>lassification ascendante hiérarchique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anose="00000500000000000000" pitchFamily="2" charset="0"/>
              </a:rPr>
              <a:t>L’algorithme K-</a:t>
            </a:r>
            <a:r>
              <a:rPr lang="fr-FR" sz="2000" dirty="0" err="1">
                <a:latin typeface="Montserrat" panose="00000500000000000000" pitchFamily="2" charset="0"/>
              </a:rPr>
              <a:t>means</a:t>
            </a:r>
            <a:endParaRPr lang="fr-FR" sz="20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latin typeface="Montserrat" panose="00000500000000000000" pitchFamily="2" charset="0"/>
              </a:rPr>
              <a:t>Heatmap</a:t>
            </a:r>
            <a:endParaRPr lang="fr-FR" sz="2000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anose="00000500000000000000" pitchFamily="2" charset="0"/>
              </a:rPr>
              <a:t>Recommandations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latin typeface="Montserrat" panose="00000500000000000000" pitchFamily="2" charset="0"/>
              </a:rPr>
              <a:t>Pays requalifiés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624F266-6491-45AF-B12A-69BE22405655}"/>
              </a:ext>
            </a:extLst>
          </p:cNvPr>
          <p:cNvSpPr txBox="1"/>
          <p:nvPr/>
        </p:nvSpPr>
        <p:spPr>
          <a:xfrm>
            <a:off x="438705" y="3077873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C00000"/>
                </a:solidFill>
                <a:latin typeface="Montserrat" panose="00000500000000000000" pitchFamily="2" charset="0"/>
              </a:rPr>
              <a:t>Analyse des données</a:t>
            </a:r>
            <a:endParaRPr lang="fr-FR" sz="3200" b="1" dirty="0">
              <a:solidFill>
                <a:srgbClr val="C00000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35371D-D9E4-4CC0-A9A3-DB42FB2007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CC998F-4A7C-4F76-A22A-E72D9856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33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6A361A-F829-4C56-827D-782EABA1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89" y="690615"/>
            <a:ext cx="10515600" cy="567046"/>
          </a:xfrm>
        </p:spPr>
        <p:txBody>
          <a:bodyPr>
            <a:normAutofit/>
          </a:bodyPr>
          <a:lstStyle/>
          <a:p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DisponibiliteAlimentaire_2017.csv :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8E7ACA-44F5-4F41-87F3-A340750FE2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06"/>
          <a:stretch/>
        </p:blipFill>
        <p:spPr>
          <a:xfrm>
            <a:off x="322637" y="1091115"/>
            <a:ext cx="8327255" cy="208746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60F928F-4DDD-4248-AB1C-12839AE32F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902" b="33045"/>
          <a:stretch/>
        </p:blipFill>
        <p:spPr>
          <a:xfrm>
            <a:off x="8649892" y="953302"/>
            <a:ext cx="2574525" cy="22559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DFC6EE0-D055-477D-8A02-50E72E742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FCD14D-F75E-44DF-8367-0C05CF7A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3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7B41DF-12C3-4CF9-A899-5C1CF9127D0B}"/>
              </a:ext>
            </a:extLst>
          </p:cNvPr>
          <p:cNvSpPr txBox="1"/>
          <p:nvPr/>
        </p:nvSpPr>
        <p:spPr>
          <a:xfrm>
            <a:off x="403189" y="418453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Population_2000_2018.cvs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E163988-219A-4FD8-B8BB-B5FC9DDA1D7F}"/>
              </a:ext>
            </a:extLst>
          </p:cNvPr>
          <p:cNvSpPr txBox="1"/>
          <p:nvPr/>
        </p:nvSpPr>
        <p:spPr>
          <a:xfrm>
            <a:off x="403189" y="6382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C00000"/>
                </a:solidFill>
                <a:latin typeface="Montserrat" panose="00000500000000000000" pitchFamily="2" charset="0"/>
              </a:rPr>
              <a:t>SELECTION DES DONNEES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012A131-3D35-40F6-8560-4C5B1B49AC5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847"/>
          <a:stretch/>
        </p:blipFill>
        <p:spPr>
          <a:xfrm>
            <a:off x="3636926" y="4553864"/>
            <a:ext cx="4048125" cy="18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3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2B9CE431-2FDA-41C9-B697-1C83F5581E8B}"/>
              </a:ext>
            </a:extLst>
          </p:cNvPr>
          <p:cNvSpPr txBox="1"/>
          <p:nvPr/>
        </p:nvSpPr>
        <p:spPr>
          <a:xfrm>
            <a:off x="623656" y="324433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Distance.xlsx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8581030-6F76-4FA5-821E-977AF2455FE6}"/>
              </a:ext>
            </a:extLst>
          </p:cNvPr>
          <p:cNvSpPr txBox="1"/>
          <p:nvPr/>
        </p:nvSpPr>
        <p:spPr>
          <a:xfrm>
            <a:off x="623656" y="40569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PIB_stab.xlsx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E507610-2F49-4CC4-B6D8-D0ECF08FA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A181CAD-E47C-42FD-A8E6-444842C2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4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ED8B83-D0C7-4753-8DD9-1DF428390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952407"/>
            <a:ext cx="4267200" cy="21145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C94328C-B1ED-4432-9D20-1C348BDE9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4216069"/>
            <a:ext cx="41148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1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9B93B5F-8FA0-40F9-B638-5B4B964F2799}"/>
              </a:ext>
            </a:extLst>
          </p:cNvPr>
          <p:cNvSpPr txBox="1"/>
          <p:nvPr/>
        </p:nvSpPr>
        <p:spPr>
          <a:xfrm>
            <a:off x="401714" y="44120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  <a:latin typeface="Montserrat" panose="00000500000000000000" pitchFamily="2" charset="0"/>
              </a:rPr>
              <a:t>JOINTURES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EC8C51-8A34-46E6-9F6B-7BEB923FC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B6FF11-E650-4499-BB58-AEBA65DA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5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57271D2-3FE4-4465-A1F5-31E134F76B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249" b="88327"/>
          <a:stretch/>
        </p:blipFill>
        <p:spPr>
          <a:xfrm>
            <a:off x="311434" y="1401062"/>
            <a:ext cx="7207952" cy="4320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15CFF76-D331-4A3C-8DAD-7EACD33F6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964" b="88464"/>
          <a:stretch/>
        </p:blipFill>
        <p:spPr>
          <a:xfrm>
            <a:off x="204498" y="897143"/>
            <a:ext cx="7554585" cy="48616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0031043-B314-4146-B6BC-4C10E3242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34" y="1886390"/>
            <a:ext cx="7207952" cy="3577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F4BBE83-F9B3-422D-8827-B657039DF1CF}"/>
              </a:ext>
            </a:extLst>
          </p:cNvPr>
          <p:cNvSpPr/>
          <p:nvPr/>
        </p:nvSpPr>
        <p:spPr>
          <a:xfrm>
            <a:off x="311434" y="967666"/>
            <a:ext cx="7447649" cy="38012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2FDA1-7F5F-4EE2-96CB-4FFB096CCFDE}"/>
              </a:ext>
            </a:extLst>
          </p:cNvPr>
          <p:cNvSpPr/>
          <p:nvPr/>
        </p:nvSpPr>
        <p:spPr>
          <a:xfrm>
            <a:off x="311435" y="1448872"/>
            <a:ext cx="7207952" cy="380128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84C98-4659-4DD7-8D72-5A9FBA8C3ABA}"/>
              </a:ext>
            </a:extLst>
          </p:cNvPr>
          <p:cNvSpPr/>
          <p:nvPr/>
        </p:nvSpPr>
        <p:spPr>
          <a:xfrm>
            <a:off x="311434" y="1888069"/>
            <a:ext cx="7207952" cy="356036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C519EC6A-28E7-4728-9B13-37093A84D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280" y="2505578"/>
            <a:ext cx="11090453" cy="271419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BA44ED7-6C88-44FF-B68F-24637F4B2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775" y="5704596"/>
            <a:ext cx="10953750" cy="37147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8E79D74-E20C-4597-8DA1-4BA206DC7749}"/>
              </a:ext>
            </a:extLst>
          </p:cNvPr>
          <p:cNvSpPr/>
          <p:nvPr/>
        </p:nvSpPr>
        <p:spPr>
          <a:xfrm>
            <a:off x="373774" y="5697344"/>
            <a:ext cx="10953749" cy="38012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D8D9E8-812B-4FF8-AE96-265556BB9585}"/>
              </a:ext>
            </a:extLst>
          </p:cNvPr>
          <p:cNvSpPr/>
          <p:nvPr/>
        </p:nvSpPr>
        <p:spPr>
          <a:xfrm>
            <a:off x="6835806" y="2728927"/>
            <a:ext cx="1322773" cy="249084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2931B2-D4F9-4FBE-BF9B-150A456C92D7}"/>
              </a:ext>
            </a:extLst>
          </p:cNvPr>
          <p:cNvSpPr/>
          <p:nvPr/>
        </p:nvSpPr>
        <p:spPr>
          <a:xfrm>
            <a:off x="8204446" y="2736180"/>
            <a:ext cx="788634" cy="249084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F9C2D3-2F1B-4E07-B13F-E41F8474A1CF}"/>
              </a:ext>
            </a:extLst>
          </p:cNvPr>
          <p:cNvSpPr/>
          <p:nvPr/>
        </p:nvSpPr>
        <p:spPr>
          <a:xfrm>
            <a:off x="9064100" y="2736180"/>
            <a:ext cx="878888" cy="2490845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6D01FF-44D3-4102-8F41-A66E98266482}"/>
              </a:ext>
            </a:extLst>
          </p:cNvPr>
          <p:cNvSpPr/>
          <p:nvPr/>
        </p:nvSpPr>
        <p:spPr>
          <a:xfrm>
            <a:off x="10025302" y="2736180"/>
            <a:ext cx="1302221" cy="249084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603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317157D-D178-478D-8525-A1B31C60C9FC}"/>
              </a:ext>
            </a:extLst>
          </p:cNvPr>
          <p:cNvSpPr txBox="1"/>
          <p:nvPr/>
        </p:nvSpPr>
        <p:spPr>
          <a:xfrm>
            <a:off x="383959" y="24590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  <a:latin typeface="Montserrat" panose="00000500000000000000" pitchFamily="2" charset="0"/>
              </a:rPr>
              <a:t>Traitement des valeurs manquantes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405AE12-A100-48BC-87AB-1BEB08FCF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3B7F43B-CE85-4B93-B8EA-DA940C9C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6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6654A1E-E843-4FCF-811E-1ED3B48CB55A}"/>
              </a:ext>
            </a:extLst>
          </p:cNvPr>
          <p:cNvSpPr txBox="1"/>
          <p:nvPr/>
        </p:nvSpPr>
        <p:spPr>
          <a:xfrm>
            <a:off x="481614" y="761849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C00000"/>
                </a:solidFill>
                <a:latin typeface="Montserrat" panose="00000500000000000000" pitchFamily="2" charset="0"/>
              </a:rPr>
              <a:t>Dispo_pivot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377647-4CBA-4E84-AAB6-C1EBF4B6BEFD}"/>
              </a:ext>
            </a:extLst>
          </p:cNvPr>
          <p:cNvSpPr txBox="1"/>
          <p:nvPr/>
        </p:nvSpPr>
        <p:spPr>
          <a:xfrm>
            <a:off x="756822" y="1126101"/>
            <a:ext cx="10153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Montserrat" panose="00000500000000000000" pitchFamily="2" charset="0"/>
              </a:rPr>
              <a:t>Suppression des colonnes : </a:t>
            </a:r>
            <a:r>
              <a:rPr lang="fr-FR" sz="1400" b="1" i="1" dirty="0">
                <a:latin typeface="Montserrat" panose="00000500000000000000" pitchFamily="2" charset="0"/>
              </a:rPr>
              <a:t>Aliments pour animaux</a:t>
            </a:r>
            <a:r>
              <a:rPr lang="fr-FR" sz="1400" dirty="0">
                <a:latin typeface="Montserrat" panose="00000500000000000000" pitchFamily="2" charset="0"/>
              </a:rPr>
              <a:t>, </a:t>
            </a:r>
            <a:r>
              <a:rPr lang="fr-FR" sz="1400" b="1" i="1" dirty="0">
                <a:latin typeface="Montserrat" panose="00000500000000000000" pitchFamily="2" charset="0"/>
              </a:rPr>
              <a:t>Autres utilisations</a:t>
            </a:r>
            <a:r>
              <a:rPr lang="fr-FR" sz="1400" dirty="0">
                <a:latin typeface="Montserrat" panose="00000500000000000000" pitchFamily="2" charset="0"/>
              </a:rPr>
              <a:t>, </a:t>
            </a:r>
            <a:r>
              <a:rPr lang="fr-FR" sz="1400" b="1" i="1" dirty="0">
                <a:latin typeface="Montserrat" panose="00000500000000000000" pitchFamily="2" charset="0"/>
              </a:rPr>
              <a:t>Semences</a:t>
            </a:r>
            <a:r>
              <a:rPr lang="fr-FR" sz="1400" dirty="0">
                <a:latin typeface="Montserrat" panose="00000500000000000000" pitchFamily="2" charset="0"/>
              </a:rPr>
              <a:t>, </a:t>
            </a:r>
            <a:r>
              <a:rPr lang="fr-FR" sz="1400" b="1" i="1" dirty="0">
                <a:latin typeface="Montserrat" panose="00000500000000000000" pitchFamily="2" charset="0"/>
              </a:rPr>
              <a:t>Traitement</a:t>
            </a:r>
            <a:r>
              <a:rPr lang="fr-FR" sz="1400" dirty="0">
                <a:latin typeface="Montserrat" panose="00000500000000000000" pitchFamily="2" charset="0"/>
              </a:rPr>
              <a:t> et </a:t>
            </a:r>
            <a:r>
              <a:rPr lang="fr-FR" sz="1400" b="1" i="1" dirty="0">
                <a:latin typeface="Montserrat" panose="00000500000000000000" pitchFamily="2" charset="0"/>
              </a:rPr>
              <a:t>Pertes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F0151E5-49FA-45AF-B755-7DAC5A2BCB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30"/>
          <a:stretch/>
        </p:blipFill>
        <p:spPr>
          <a:xfrm>
            <a:off x="3431219" y="1636158"/>
            <a:ext cx="5152531" cy="211393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552952-0FD7-48DA-B1FC-415532D12152}"/>
              </a:ext>
            </a:extLst>
          </p:cNvPr>
          <p:cNvSpPr/>
          <p:nvPr/>
        </p:nvSpPr>
        <p:spPr>
          <a:xfrm>
            <a:off x="3422339" y="2532770"/>
            <a:ext cx="4993692" cy="17491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F67B651B-6CC0-4ACF-8FE5-0F7F1A9C8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822" y="3879959"/>
            <a:ext cx="10153650" cy="38100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6E9048AF-2B58-4EE8-88D1-A061171092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289" y="4428103"/>
            <a:ext cx="5039633" cy="199932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001FD0D-3CDC-44B9-932C-6F2376F327F1}"/>
              </a:ext>
            </a:extLst>
          </p:cNvPr>
          <p:cNvSpPr/>
          <p:nvPr/>
        </p:nvSpPr>
        <p:spPr>
          <a:xfrm>
            <a:off x="3431219" y="5340307"/>
            <a:ext cx="4993692" cy="174919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55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CCC9542-2914-4DDB-B374-3F6A0A69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7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23C797B-EF6D-44C3-9073-100850D5F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52BAD0C-5A2A-4C6F-93A2-AA57BB2CB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38" y="1216241"/>
            <a:ext cx="7955562" cy="246609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B9F7CAD-7543-42BB-8EEA-9575BE37E6D9}"/>
              </a:ext>
            </a:extLst>
          </p:cNvPr>
          <p:cNvSpPr txBox="1"/>
          <p:nvPr/>
        </p:nvSpPr>
        <p:spPr>
          <a:xfrm>
            <a:off x="655038" y="46517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Valeurs manquantes restantes :</a:t>
            </a:r>
          </a:p>
        </p:txBody>
      </p:sp>
    </p:spTree>
    <p:extLst>
      <p:ext uri="{BB962C8B-B14F-4D97-AF65-F5344CB8AC3E}">
        <p14:creationId xmlns:p14="http://schemas.microsoft.com/office/powerpoint/2010/main" val="133879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796508E-ACE5-4FE7-910D-48B76FC4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8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9C109D7-1472-4563-970B-C39321E9FF45}"/>
              </a:ext>
            </a:extLst>
          </p:cNvPr>
          <p:cNvSpPr txBox="1"/>
          <p:nvPr/>
        </p:nvSpPr>
        <p:spPr>
          <a:xfrm>
            <a:off x="357327" y="21039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rgbClr val="C00000"/>
                </a:solidFill>
                <a:latin typeface="Montserrat" panose="00000500000000000000" pitchFamily="2" charset="0"/>
              </a:rPr>
              <a:t>Analyse des données</a:t>
            </a:r>
            <a:endParaRPr lang="fr-FR" sz="1800" b="1" dirty="0">
              <a:solidFill>
                <a:srgbClr val="C0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8408168-5D67-4C5B-8826-3B591D23F64F}"/>
              </a:ext>
            </a:extLst>
          </p:cNvPr>
          <p:cNvSpPr txBox="1"/>
          <p:nvPr/>
        </p:nvSpPr>
        <p:spPr>
          <a:xfrm>
            <a:off x="570391" y="80519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Analyse en Composantes Principales (ACP)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8A52294-843A-4E59-96D6-7AE36F3D70C6}"/>
              </a:ext>
            </a:extLst>
          </p:cNvPr>
          <p:cNvSpPr txBox="1"/>
          <p:nvPr/>
        </p:nvSpPr>
        <p:spPr>
          <a:xfrm>
            <a:off x="1076418" y="12845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Montserrat" panose="00000500000000000000" pitchFamily="2" charset="0"/>
              </a:rPr>
              <a:t>Retrait des </a:t>
            </a:r>
            <a:r>
              <a:rPr lang="fr-FR" sz="1800" dirty="0" err="1">
                <a:latin typeface="Montserrat" panose="00000500000000000000" pitchFamily="2" charset="0"/>
              </a:rPr>
              <a:t>outliers</a:t>
            </a:r>
            <a:r>
              <a:rPr lang="fr-FR" sz="1800" dirty="0">
                <a:latin typeface="Montserrat" panose="00000500000000000000" pitchFamily="2" charset="0"/>
              </a:rPr>
              <a:t> : USA / Brésil et Inde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BD9A714-E20D-4D78-AE07-35F8542B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985" y="2327230"/>
            <a:ext cx="4458716" cy="289943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A286D4F-94A8-499D-8CDA-4AF8B04FA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3" y="2500708"/>
            <a:ext cx="5070553" cy="272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03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597D4BF5-B4E5-43C4-87AA-24683201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94" y="870012"/>
            <a:ext cx="4809848" cy="441720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AAA2B65-59A2-490F-8B69-002DA85B1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190209"/>
            <a:ext cx="5257800" cy="39273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0AD1B4A-4792-4F8C-B844-43C190F96D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EC31BFE-35CD-46CA-8072-CE6DA55E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9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2F03F9E-542E-4FC2-86E3-F39CE9F9A849}"/>
              </a:ext>
            </a:extLst>
          </p:cNvPr>
          <p:cNvSpPr txBox="1"/>
          <p:nvPr/>
        </p:nvSpPr>
        <p:spPr>
          <a:xfrm>
            <a:off x="446103" y="20126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Analyse en Composantes Principales (ACP)</a:t>
            </a:r>
          </a:p>
        </p:txBody>
      </p:sp>
    </p:spTree>
    <p:extLst>
      <p:ext uri="{BB962C8B-B14F-4D97-AF65-F5344CB8AC3E}">
        <p14:creationId xmlns:p14="http://schemas.microsoft.com/office/powerpoint/2010/main" val="397176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08EF08-AC4A-483E-B0AD-D8617C8B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10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03DCBDE-A654-4A90-81CA-161DF03D1310}"/>
              </a:ext>
            </a:extLst>
          </p:cNvPr>
          <p:cNvSpPr txBox="1"/>
          <p:nvPr/>
        </p:nvSpPr>
        <p:spPr>
          <a:xfrm>
            <a:off x="410592" y="18375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Classification ascendante hiérarchique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B29F9E-5037-452D-92C5-9CB7426C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5" y="1624613"/>
            <a:ext cx="4699581" cy="30013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58B6A06-26A9-4DFE-BD47-1852426697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3"/>
          <a:stretch/>
        </p:blipFill>
        <p:spPr>
          <a:xfrm>
            <a:off x="5255582" y="918397"/>
            <a:ext cx="6422110" cy="525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1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6ABAAAD-98BD-4B32-A40B-803D3F3F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EB9BD92-2526-4BE6-B541-9FA9ABE8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76" y="1530528"/>
            <a:ext cx="5223538" cy="345872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A332011-4D05-410C-B44D-E175BD7EAD66}"/>
              </a:ext>
            </a:extLst>
          </p:cNvPr>
          <p:cNvSpPr txBox="1"/>
          <p:nvPr/>
        </p:nvSpPr>
        <p:spPr>
          <a:xfrm>
            <a:off x="295182" y="17487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>
                <a:solidFill>
                  <a:srgbClr val="C00000"/>
                </a:solidFill>
                <a:latin typeface="Montserrat" panose="00000500000000000000" pitchFamily="2" charset="0"/>
              </a:rPr>
              <a:t>Classification ascendante hiérarchique</a:t>
            </a:r>
            <a:endParaRPr lang="fr-FR" sz="1800" dirty="0">
              <a:solidFill>
                <a:srgbClr val="C00000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33E713-6954-417A-8315-36BDAAA08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644" y="1294134"/>
            <a:ext cx="4720703" cy="458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8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9549FEFB-ADAF-4202-84B5-8A934B5790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68197"/>
          <a:stretch/>
        </p:blipFill>
        <p:spPr>
          <a:xfrm>
            <a:off x="8059159" y="4185066"/>
            <a:ext cx="3182939" cy="253640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B425361-1D1D-4B2D-8C66-6D37A566E94F}"/>
              </a:ext>
            </a:extLst>
          </p:cNvPr>
          <p:cNvSpPr txBox="1"/>
          <p:nvPr/>
        </p:nvSpPr>
        <p:spPr>
          <a:xfrm>
            <a:off x="306591" y="702407"/>
            <a:ext cx="15709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1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6B74AA7-6D39-42F9-9A2A-44710A3FA4BB}"/>
              </a:ext>
            </a:extLst>
          </p:cNvPr>
          <p:cNvSpPr txBox="1"/>
          <p:nvPr/>
        </p:nvSpPr>
        <p:spPr>
          <a:xfrm>
            <a:off x="288657" y="189866"/>
            <a:ext cx="3075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Diagrammes de </a:t>
            </a:r>
            <a:r>
              <a:rPr lang="fr-FR" sz="1800" dirty="0" err="1">
                <a:solidFill>
                  <a:srgbClr val="C00000"/>
                </a:solidFill>
                <a:latin typeface="Montserrat" panose="00000500000000000000" pitchFamily="2" charset="0"/>
              </a:rPr>
              <a:t>Kiviat</a:t>
            </a:r>
            <a:endParaRPr lang="fr-FR" sz="1800" dirty="0">
              <a:solidFill>
                <a:srgbClr val="C00000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10D3D3A-DEA2-4BD5-AF09-874C795A0143}"/>
              </a:ext>
            </a:extLst>
          </p:cNvPr>
          <p:cNvSpPr txBox="1"/>
          <p:nvPr/>
        </p:nvSpPr>
        <p:spPr>
          <a:xfrm>
            <a:off x="4179386" y="665225"/>
            <a:ext cx="157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2 :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3A02D9F-7063-4CC3-97A8-EBB72B132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4096858-6235-4A1A-BCCA-A1727091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12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4ABEBA0-202B-49D2-A250-540F3DC65A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6" r="50039" b="66843"/>
          <a:stretch/>
        </p:blipFill>
        <p:spPr>
          <a:xfrm>
            <a:off x="306592" y="1169183"/>
            <a:ext cx="3175961" cy="251238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4B354175-6A03-4275-A612-C662B8D480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9" t="34987" b="33210"/>
          <a:stretch/>
        </p:blipFill>
        <p:spPr>
          <a:xfrm>
            <a:off x="306591" y="4185068"/>
            <a:ext cx="3175961" cy="253640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FC77279-09EC-4CD7-828E-2969549937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80" r="49929" b="33162"/>
          <a:stretch/>
        </p:blipFill>
        <p:spPr>
          <a:xfrm>
            <a:off x="8020679" y="1146990"/>
            <a:ext cx="3182939" cy="2556769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F16B206-47AD-408C-8861-95735CBFD0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97" r="49929"/>
          <a:stretch/>
        </p:blipFill>
        <p:spPr>
          <a:xfrm>
            <a:off x="4179386" y="4185067"/>
            <a:ext cx="3182939" cy="2536407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90DE995F-7CD7-468A-9B94-B7375B9EE6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9" t="1656" b="66843"/>
          <a:stretch/>
        </p:blipFill>
        <p:spPr>
          <a:xfrm>
            <a:off x="4190126" y="1191378"/>
            <a:ext cx="3182939" cy="2512381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99873BA5-CDCF-4E7A-827F-8A6FA44DD647}"/>
              </a:ext>
            </a:extLst>
          </p:cNvPr>
          <p:cNvSpPr txBox="1"/>
          <p:nvPr/>
        </p:nvSpPr>
        <p:spPr>
          <a:xfrm>
            <a:off x="8020679" y="665225"/>
            <a:ext cx="17004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3 :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0B43728-419B-4169-B15F-D5C2ACB3BDA1}"/>
              </a:ext>
            </a:extLst>
          </p:cNvPr>
          <p:cNvSpPr txBox="1"/>
          <p:nvPr/>
        </p:nvSpPr>
        <p:spPr>
          <a:xfrm>
            <a:off x="306591" y="3809786"/>
            <a:ext cx="1748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4 :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91A970D-C400-4C69-BB33-5FF959E12EF8}"/>
              </a:ext>
            </a:extLst>
          </p:cNvPr>
          <p:cNvSpPr txBox="1"/>
          <p:nvPr/>
        </p:nvSpPr>
        <p:spPr>
          <a:xfrm>
            <a:off x="4179386" y="3809786"/>
            <a:ext cx="1748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5 :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07E61EA-0B9A-4BD9-9FDD-0F02EBE8F49E}"/>
              </a:ext>
            </a:extLst>
          </p:cNvPr>
          <p:cNvSpPr txBox="1"/>
          <p:nvPr/>
        </p:nvSpPr>
        <p:spPr>
          <a:xfrm>
            <a:off x="8020679" y="3809786"/>
            <a:ext cx="1748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6 :</a:t>
            </a:r>
          </a:p>
        </p:txBody>
      </p:sp>
    </p:spTree>
    <p:extLst>
      <p:ext uri="{BB962C8B-B14F-4D97-AF65-F5344CB8AC3E}">
        <p14:creationId xmlns:p14="http://schemas.microsoft.com/office/powerpoint/2010/main" val="3322183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22E3F5B-5970-4C8E-8AAE-1683CB68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7C74FF5-810B-44C4-899C-BFE6CE33BB8B}"/>
              </a:ext>
            </a:extLst>
          </p:cNvPr>
          <p:cNvSpPr txBox="1"/>
          <p:nvPr/>
        </p:nvSpPr>
        <p:spPr>
          <a:xfrm>
            <a:off x="370891" y="24233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L’algorithme K-MEANS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BF492B6-18C8-4EB4-B044-5CA04E114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70E074B-C9CB-4265-96C1-45FEB87CC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981" y="1040376"/>
            <a:ext cx="9267593" cy="51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01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147A844-4A66-4AB4-A5C2-36D8DF74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C4C3220-C434-448D-94B8-ED5F686D02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905" b="31202"/>
          <a:stretch/>
        </p:blipFill>
        <p:spPr>
          <a:xfrm>
            <a:off x="2308936" y="771602"/>
            <a:ext cx="7324531" cy="152818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B1E205B-BC5C-408F-AE40-29B545A901A5}"/>
              </a:ext>
            </a:extLst>
          </p:cNvPr>
          <p:cNvSpPr txBox="1"/>
          <p:nvPr/>
        </p:nvSpPr>
        <p:spPr>
          <a:xfrm>
            <a:off x="279918" y="185678"/>
            <a:ext cx="7077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KMEANS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DEAF60E-058C-48A1-82AF-EBFC16FCE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3115092-B141-4617-A966-2F5604BA9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859" y="2516374"/>
            <a:ext cx="5004683" cy="392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70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040E41A-8E93-4803-84E4-D0FCEE9C69F8}"/>
              </a:ext>
            </a:extLst>
          </p:cNvPr>
          <p:cNvSpPr txBox="1"/>
          <p:nvPr/>
        </p:nvSpPr>
        <p:spPr>
          <a:xfrm>
            <a:off x="379841" y="836105"/>
            <a:ext cx="17022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0 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1FAFE62-0E60-43D9-9A30-0B2949C00089}"/>
              </a:ext>
            </a:extLst>
          </p:cNvPr>
          <p:cNvSpPr txBox="1"/>
          <p:nvPr/>
        </p:nvSpPr>
        <p:spPr>
          <a:xfrm>
            <a:off x="4271533" y="836105"/>
            <a:ext cx="16344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1 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CBE885DE-6B86-442B-AE00-EAA24DE32997}"/>
                  </a:ext>
                </a:extLst>
              </p14:cNvPr>
              <p14:cNvContentPartPr/>
              <p14:nvPr/>
            </p14:nvContentPartPr>
            <p14:xfrm>
              <a:off x="2032473" y="3922833"/>
              <a:ext cx="500760" cy="55800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CBE885DE-6B86-442B-AE00-EAA24DE329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3833" y="3913833"/>
                <a:ext cx="5184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200F9B20-1801-4F68-9B78-933735D2D14D}"/>
                  </a:ext>
                </a:extLst>
              </p14:cNvPr>
              <p14:cNvContentPartPr/>
              <p14:nvPr/>
            </p14:nvContentPartPr>
            <p14:xfrm>
              <a:off x="5988264" y="3099051"/>
              <a:ext cx="1800" cy="360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200F9B20-1801-4F68-9B78-933735D2D1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79624" y="3090411"/>
                <a:ext cx="19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9BD037CC-8ECE-4FF0-9B13-2258FD6D7DF6}"/>
                  </a:ext>
                </a:extLst>
              </p14:cNvPr>
              <p14:cNvContentPartPr/>
              <p14:nvPr/>
            </p14:nvContentPartPr>
            <p14:xfrm>
              <a:off x="5480664" y="3068451"/>
              <a:ext cx="993600" cy="56160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9BD037CC-8ECE-4FF0-9B13-2258FD6D7D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71664" y="3059451"/>
                <a:ext cx="10112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9DEDDEAC-43CB-442A-84AE-CB8DF5F1657F}"/>
                  </a:ext>
                </a:extLst>
              </p14:cNvPr>
              <p14:cNvContentPartPr/>
              <p14:nvPr/>
            </p14:nvContentPartPr>
            <p14:xfrm>
              <a:off x="1402600" y="3941829"/>
              <a:ext cx="793440" cy="39240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9DEDDEAC-43CB-442A-84AE-CB8DF5F165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93960" y="3933189"/>
                <a:ext cx="811080" cy="568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ZoneTexte 32">
            <a:extLst>
              <a:ext uri="{FF2B5EF4-FFF2-40B4-BE49-F238E27FC236}">
                <a16:creationId xmlns:a16="http://schemas.microsoft.com/office/drawing/2014/main" id="{4EC37FC5-EBA4-442A-BFA7-DA7773BAE19C}"/>
              </a:ext>
            </a:extLst>
          </p:cNvPr>
          <p:cNvSpPr txBox="1"/>
          <p:nvPr/>
        </p:nvSpPr>
        <p:spPr>
          <a:xfrm>
            <a:off x="214268" y="122020"/>
            <a:ext cx="3295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C00000"/>
                </a:solidFill>
                <a:latin typeface="Montserrat" panose="00000500000000000000" pitchFamily="2" charset="0"/>
              </a:rPr>
              <a:t>Diagrammes de </a:t>
            </a:r>
            <a:r>
              <a:rPr lang="fr-FR" sz="1800" dirty="0" err="1">
                <a:solidFill>
                  <a:srgbClr val="C00000"/>
                </a:solidFill>
                <a:latin typeface="Montserrat" panose="00000500000000000000" pitchFamily="2" charset="0"/>
              </a:rPr>
              <a:t>Kiviat</a:t>
            </a:r>
            <a:endParaRPr lang="fr-FR" sz="1800" dirty="0">
              <a:solidFill>
                <a:srgbClr val="C00000"/>
              </a:solidFill>
              <a:latin typeface="Montserrat" panose="00000500000000000000" pitchFamily="2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B229EA8-11A2-41B6-B864-DD95EA9E5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158FF8B-4475-473D-8122-443BD179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2DA1496-F1B8-4230-8BD8-F52EA1A2FD2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" r="50000" b="66458"/>
          <a:stretch/>
        </p:blipFill>
        <p:spPr>
          <a:xfrm>
            <a:off x="379841" y="1199236"/>
            <a:ext cx="3129998" cy="2529743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FA298AE-48BB-46C6-8C5A-337F54B5A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96" r="50000" b="32995"/>
          <a:stretch/>
        </p:blipFill>
        <p:spPr>
          <a:xfrm>
            <a:off x="8158161" y="1199237"/>
            <a:ext cx="3129998" cy="252974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62A8CD4-4216-4276-853F-3839F379D7A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4796" b="32995"/>
          <a:stretch/>
        </p:blipFill>
        <p:spPr>
          <a:xfrm>
            <a:off x="379841" y="4212757"/>
            <a:ext cx="3129998" cy="2529743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91B56BFC-6FD2-4578-9482-1A0DAD977BE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08" r="50000"/>
          <a:stretch/>
        </p:blipFill>
        <p:spPr>
          <a:xfrm>
            <a:off x="4412465" y="4212757"/>
            <a:ext cx="3129998" cy="250478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89D004E6-22FB-4FD2-AB6D-D323C1975C4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332" b="66458"/>
          <a:stretch/>
        </p:blipFill>
        <p:spPr>
          <a:xfrm>
            <a:off x="4412465" y="1199236"/>
            <a:ext cx="3129998" cy="2529743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9853232A-51D7-4008-90FB-F99C3175878A}"/>
              </a:ext>
            </a:extLst>
          </p:cNvPr>
          <p:cNvSpPr txBox="1"/>
          <p:nvPr/>
        </p:nvSpPr>
        <p:spPr>
          <a:xfrm>
            <a:off x="8158161" y="834502"/>
            <a:ext cx="17938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>
                <a:latin typeface="Montserrat" panose="00000500000000000000" pitchFamily="2" charset="0"/>
              </a:rPr>
              <a:t>Cluster n° 2 :</a:t>
            </a:r>
            <a:endParaRPr lang="fr-FR" sz="1600" b="1" dirty="0">
              <a:latin typeface="Montserrat" panose="00000500000000000000" pitchFamily="2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60E6F3E-5E79-448A-BF7A-1908D07196A4}"/>
              </a:ext>
            </a:extLst>
          </p:cNvPr>
          <p:cNvSpPr txBox="1"/>
          <p:nvPr/>
        </p:nvSpPr>
        <p:spPr>
          <a:xfrm>
            <a:off x="379841" y="3843425"/>
            <a:ext cx="1709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3 :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2D7C0F5E-91B0-46C5-AD04-740BF1310C46}"/>
              </a:ext>
            </a:extLst>
          </p:cNvPr>
          <p:cNvSpPr txBox="1"/>
          <p:nvPr/>
        </p:nvSpPr>
        <p:spPr>
          <a:xfrm>
            <a:off x="4269646" y="3800426"/>
            <a:ext cx="18263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Cluster n° 4 :</a:t>
            </a:r>
          </a:p>
        </p:txBody>
      </p:sp>
    </p:spTree>
    <p:extLst>
      <p:ext uri="{BB962C8B-B14F-4D97-AF65-F5344CB8AC3E}">
        <p14:creationId xmlns:p14="http://schemas.microsoft.com/office/powerpoint/2010/main" val="2845426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C9627D0C-D254-436B-A0BB-2ADE86165D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3"/>
          <a:stretch/>
        </p:blipFill>
        <p:spPr>
          <a:xfrm>
            <a:off x="97655" y="1161824"/>
            <a:ext cx="6207020" cy="506142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FAE871C-30D0-4B37-A5E1-E51A3243CE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7"/>
          <a:stretch/>
        </p:blipFill>
        <p:spPr>
          <a:xfrm>
            <a:off x="6642575" y="1262287"/>
            <a:ext cx="4180214" cy="528902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666D9190-E3BC-44F8-9EC8-4DFD86421EDD}"/>
              </a:ext>
            </a:extLst>
          </p:cNvPr>
          <p:cNvSpPr txBox="1"/>
          <p:nvPr/>
        </p:nvSpPr>
        <p:spPr>
          <a:xfrm>
            <a:off x="6518288" y="754443"/>
            <a:ext cx="4765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>
                <a:latin typeface="Montserrat" panose="00000500000000000000" pitchFamily="2" charset="0"/>
              </a:rPr>
              <a:t>Heatmap</a:t>
            </a:r>
            <a:r>
              <a:rPr lang="fr-FR" sz="1800" b="1" dirty="0">
                <a:latin typeface="Montserrat" panose="00000500000000000000" pitchFamily="2" charset="0"/>
              </a:rPr>
              <a:t> du Clusters </a:t>
            </a:r>
            <a:r>
              <a:rPr lang="fr-FR" sz="1800" b="1" dirty="0" err="1">
                <a:latin typeface="Montserrat" panose="00000500000000000000" pitchFamily="2" charset="0"/>
              </a:rPr>
              <a:t>Kmeans</a:t>
            </a:r>
            <a:endParaRPr lang="fr-FR" sz="1800" b="1" dirty="0">
              <a:latin typeface="Montserrat" panose="00000500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0013A9-C6D7-49D6-9D0D-D02A35D3881E}"/>
              </a:ext>
            </a:extLst>
          </p:cNvPr>
          <p:cNvSpPr txBox="1"/>
          <p:nvPr/>
        </p:nvSpPr>
        <p:spPr>
          <a:xfrm>
            <a:off x="214268" y="201262"/>
            <a:ext cx="3282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 err="1">
                <a:solidFill>
                  <a:srgbClr val="C00000"/>
                </a:solidFill>
                <a:latin typeface="Montserrat" panose="00000500000000000000" pitchFamily="2" charset="0"/>
              </a:rPr>
              <a:t>Heatmap</a:t>
            </a:r>
            <a:endParaRPr lang="fr-FR" sz="1800" dirty="0">
              <a:solidFill>
                <a:srgbClr val="C00000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9E15745-2E44-4D8E-9B7A-3573C1441B2A}"/>
              </a:ext>
            </a:extLst>
          </p:cNvPr>
          <p:cNvSpPr txBox="1"/>
          <p:nvPr/>
        </p:nvSpPr>
        <p:spPr>
          <a:xfrm>
            <a:off x="792332" y="714197"/>
            <a:ext cx="421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 err="1">
                <a:latin typeface="Montserrat" panose="00000500000000000000" pitchFamily="2" charset="0"/>
              </a:rPr>
              <a:t>Clustermap</a:t>
            </a:r>
            <a:r>
              <a:rPr lang="fr-FR" sz="1800" b="1" dirty="0">
                <a:latin typeface="Montserrat" panose="00000500000000000000" pitchFamily="2" charset="0"/>
              </a:rPr>
              <a:t> </a:t>
            </a:r>
            <a:r>
              <a:rPr lang="fr-FR" b="1" dirty="0">
                <a:latin typeface="Montserrat" panose="00000500000000000000" pitchFamily="2" charset="0"/>
              </a:rPr>
              <a:t>du</a:t>
            </a:r>
            <a:r>
              <a:rPr lang="fr-FR" sz="1800" b="1" dirty="0">
                <a:latin typeface="Montserrat" panose="00000500000000000000" pitchFamily="2" charset="0"/>
              </a:rPr>
              <a:t> dendrogramme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0A707E-BB32-41BE-A6E7-7229A359F433}"/>
              </a:ext>
            </a:extLst>
          </p:cNvPr>
          <p:cNvSpPr/>
          <p:nvPr/>
        </p:nvSpPr>
        <p:spPr>
          <a:xfrm>
            <a:off x="1118587" y="2112885"/>
            <a:ext cx="4036379" cy="3817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007D7-D722-4355-A6D9-97D6E931915A}"/>
              </a:ext>
            </a:extLst>
          </p:cNvPr>
          <p:cNvSpPr/>
          <p:nvPr/>
        </p:nvSpPr>
        <p:spPr>
          <a:xfrm>
            <a:off x="6800296" y="2396971"/>
            <a:ext cx="3329126" cy="4619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A5B4213-081C-4201-847D-532A3BFDF3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BF7658C-0E48-4C17-8D27-6CAAB844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7666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7C0013A9-C6D7-49D6-9D0D-D02A35D3881E}"/>
              </a:ext>
            </a:extLst>
          </p:cNvPr>
          <p:cNvSpPr txBox="1"/>
          <p:nvPr/>
        </p:nvSpPr>
        <p:spPr>
          <a:xfrm>
            <a:off x="214268" y="385699"/>
            <a:ext cx="5466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Recommandations</a:t>
            </a:r>
            <a:endParaRPr lang="fr-FR" sz="1800" dirty="0">
              <a:solidFill>
                <a:srgbClr val="C00000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9E15745-2E44-4D8E-9B7A-3573C1441B2A}"/>
              </a:ext>
            </a:extLst>
          </p:cNvPr>
          <p:cNvSpPr txBox="1"/>
          <p:nvPr/>
        </p:nvSpPr>
        <p:spPr>
          <a:xfrm>
            <a:off x="-404306" y="1007161"/>
            <a:ext cx="421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latin typeface="Montserrat" panose="00000500000000000000" pitchFamily="2" charset="0"/>
              </a:rPr>
              <a:t>Pays du cluster n°4 du dendrogramme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164E65B-A2F1-44C1-ABF6-9A2124A5D06F}"/>
              </a:ext>
            </a:extLst>
          </p:cNvPr>
          <p:cNvSpPr txBox="1"/>
          <p:nvPr/>
        </p:nvSpPr>
        <p:spPr>
          <a:xfrm>
            <a:off x="8403084" y="1007161"/>
            <a:ext cx="31582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latin typeface="Montserrat" panose="00000500000000000000" pitchFamily="2" charset="0"/>
              </a:rPr>
              <a:t>Pays du cluster n°2 du </a:t>
            </a:r>
            <a:r>
              <a:rPr lang="fr-FR" sz="1600" b="1" dirty="0" err="1">
                <a:latin typeface="Montserrat" panose="00000500000000000000" pitchFamily="2" charset="0"/>
              </a:rPr>
              <a:t>Kmeans</a:t>
            </a:r>
            <a:endParaRPr lang="fr-FR" sz="1600" b="1" dirty="0">
              <a:latin typeface="Montserrat" panose="00000500000000000000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7247A78-97EC-4B32-842E-9042CC88FD26}"/>
              </a:ext>
            </a:extLst>
          </p:cNvPr>
          <p:cNvSpPr txBox="1"/>
          <p:nvPr/>
        </p:nvSpPr>
        <p:spPr>
          <a:xfrm>
            <a:off x="4498852" y="1932731"/>
            <a:ext cx="282171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Afrique du Sud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Allemagne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Arabie-Saoudite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Chine-Hong-Kong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Fédération de Russie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Japon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Mexique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latin typeface="Montserrat" panose="00000500000000000000" pitchFamily="2" charset="0"/>
              </a:rPr>
              <a:t>Royaume-Uni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5CD9FC2-FEAB-4E99-868C-ABF4842E79B6}"/>
              </a:ext>
            </a:extLst>
          </p:cNvPr>
          <p:cNvSpPr txBox="1"/>
          <p:nvPr/>
        </p:nvSpPr>
        <p:spPr>
          <a:xfrm>
            <a:off x="8791521" y="4754977"/>
            <a:ext cx="28455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Canada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Espagne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Italie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latin typeface="Montserrat" panose="00000500000000000000" pitchFamily="2" charset="0"/>
              </a:rPr>
              <a:t>Koweit</a:t>
            </a:r>
            <a:endParaRPr lang="fr-FR" sz="18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Emirats arabes unis</a:t>
            </a:r>
            <a:endParaRPr lang="fr-FR" sz="1800" dirty="0">
              <a:latin typeface="Montserrat" panose="00000500000000000000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6613F4F-B41D-4600-BB30-C47D06D3E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EF0212A-29FF-451A-99FF-BFCA4B1E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17</a:t>
            </a:fld>
            <a:endParaRPr lang="fr-FR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84C02F4-7C30-4E2C-9C71-B32D2BC8EB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39" t="34987" b="33210"/>
          <a:stretch/>
        </p:blipFill>
        <p:spPr>
          <a:xfrm>
            <a:off x="988651" y="1987557"/>
            <a:ext cx="2821717" cy="225349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9093F8E-850D-48B1-857D-C40D1F393D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96" r="50000" b="32995"/>
          <a:stretch/>
        </p:blipFill>
        <p:spPr>
          <a:xfrm>
            <a:off x="8507027" y="1858438"/>
            <a:ext cx="3129998" cy="2529743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B4F2F8C9-B448-4C15-AA15-BAE4AA2B2E72}"/>
              </a:ext>
            </a:extLst>
          </p:cNvPr>
          <p:cNvSpPr txBox="1"/>
          <p:nvPr/>
        </p:nvSpPr>
        <p:spPr>
          <a:xfrm>
            <a:off x="486672" y="4328739"/>
            <a:ext cx="14914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Montserrat" panose="00000500000000000000" pitchFamily="2" charset="0"/>
              </a:rPr>
              <a:t>11 pays 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D2EFBBD-3837-4F8F-AE05-2DCE9CEE405D}"/>
              </a:ext>
            </a:extLst>
          </p:cNvPr>
          <p:cNvSpPr txBox="1"/>
          <p:nvPr/>
        </p:nvSpPr>
        <p:spPr>
          <a:xfrm>
            <a:off x="8507027" y="4416423"/>
            <a:ext cx="1290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latin typeface="Montserrat" panose="00000500000000000000" pitchFamily="2" charset="0"/>
              </a:rPr>
              <a:t>14 pays 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EC365DE-E64F-4253-9911-BFA689A5DB5D}"/>
              </a:ext>
            </a:extLst>
          </p:cNvPr>
          <p:cNvSpPr txBox="1"/>
          <p:nvPr/>
        </p:nvSpPr>
        <p:spPr>
          <a:xfrm>
            <a:off x="794014" y="4754977"/>
            <a:ext cx="1647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Pays-Bas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Pologne</a:t>
            </a:r>
            <a:endParaRPr lang="fr-FR" sz="1800" dirty="0">
              <a:latin typeface="Montserrat" panose="00000500000000000000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FFBC1B0-9CCD-43EE-9532-44B910BA7F3E}"/>
              </a:ext>
            </a:extLst>
          </p:cNvPr>
          <p:cNvSpPr txBox="1"/>
          <p:nvPr/>
        </p:nvSpPr>
        <p:spPr>
          <a:xfrm>
            <a:off x="4871431" y="1130272"/>
            <a:ext cx="2123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latin typeface="Montserrat" panose="00000500000000000000" pitchFamily="2" charset="0"/>
              </a:rPr>
              <a:t>Pays communs</a:t>
            </a:r>
          </a:p>
        </p:txBody>
      </p:sp>
    </p:spTree>
    <p:extLst>
      <p:ext uri="{BB962C8B-B14F-4D97-AF65-F5344CB8AC3E}">
        <p14:creationId xmlns:p14="http://schemas.microsoft.com/office/powerpoint/2010/main" val="410167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DC72F5-CF7C-4B32-83BE-7E4CFC3E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18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6E9450-A672-4916-ABCD-5C77E4AD7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34" y="306686"/>
            <a:ext cx="1289998" cy="5278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6570908-CDB2-4164-812D-77AB83D51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620" y="991713"/>
            <a:ext cx="7515872" cy="173580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44574EEB-D5DA-45B6-8EF8-A2ECECC394B5}"/>
              </a:ext>
            </a:extLst>
          </p:cNvPr>
          <p:cNvSpPr txBox="1"/>
          <p:nvPr/>
        </p:nvSpPr>
        <p:spPr>
          <a:xfrm>
            <a:off x="292964" y="38592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Pays requalifiés </a:t>
            </a:r>
            <a:endParaRPr lang="fr-FR" sz="1800" dirty="0">
              <a:solidFill>
                <a:srgbClr val="C00000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E0F6CBC-AF96-4BFB-9687-96D8084B0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407" y="2933700"/>
            <a:ext cx="47244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159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DC8697F5-51D9-49CA-A9AB-5C1A75C47B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23" r="48531"/>
          <a:stretch/>
        </p:blipFill>
        <p:spPr>
          <a:xfrm>
            <a:off x="4296607" y="3892734"/>
            <a:ext cx="3286217" cy="26816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700F1DA-EA02-4439-8CEC-81D2D160B7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4" t="33477" b="32018"/>
          <a:stretch/>
        </p:blipFill>
        <p:spPr>
          <a:xfrm>
            <a:off x="304059" y="3910241"/>
            <a:ext cx="3195962" cy="276400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B48529D-5611-475E-BCEC-E17FE0C30FAC}"/>
              </a:ext>
            </a:extLst>
          </p:cNvPr>
          <p:cNvSpPr/>
          <p:nvPr/>
        </p:nvSpPr>
        <p:spPr>
          <a:xfrm>
            <a:off x="201718" y="3525385"/>
            <a:ext cx="10810784" cy="508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434967A-FF70-465D-8E17-9FDD96B9B4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86" r="49940" b="33137"/>
          <a:stretch/>
        </p:blipFill>
        <p:spPr>
          <a:xfrm>
            <a:off x="8384096" y="857391"/>
            <a:ext cx="3196208" cy="268168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B62FC0C-E011-41A0-9550-64D8725734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40" b="66523"/>
          <a:stretch/>
        </p:blipFill>
        <p:spPr>
          <a:xfrm>
            <a:off x="4343955" y="830759"/>
            <a:ext cx="3196208" cy="268169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B7AA664-647C-4F4F-B912-B5E66FA084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" r="49944" b="66523"/>
          <a:stretch/>
        </p:blipFill>
        <p:spPr>
          <a:xfrm>
            <a:off x="304060" y="919537"/>
            <a:ext cx="3195962" cy="25929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85C3AE-603D-4D92-8E1D-21C3D0B2279E}"/>
              </a:ext>
            </a:extLst>
          </p:cNvPr>
          <p:cNvSpPr/>
          <p:nvPr/>
        </p:nvSpPr>
        <p:spPr>
          <a:xfrm>
            <a:off x="304059" y="553089"/>
            <a:ext cx="10810784" cy="508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7E72A2-B6A0-4C8C-BD92-52AE6625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19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8D844A5-3FEF-482C-9F79-305A6E3A685B}"/>
              </a:ext>
            </a:extLst>
          </p:cNvPr>
          <p:cNvSpPr txBox="1"/>
          <p:nvPr/>
        </p:nvSpPr>
        <p:spPr>
          <a:xfrm>
            <a:off x="304060" y="18375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Pays requalifiés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6F8C43B-9E1D-4AA8-80C2-CBEA8FB49D07}"/>
              </a:ext>
            </a:extLst>
          </p:cNvPr>
          <p:cNvSpPr txBox="1"/>
          <p:nvPr/>
        </p:nvSpPr>
        <p:spPr>
          <a:xfrm>
            <a:off x="1179498" y="656575"/>
            <a:ext cx="1444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Cluster n° 0 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3686324-ED73-409D-8D62-3FB7F76257D1}"/>
              </a:ext>
            </a:extLst>
          </p:cNvPr>
          <p:cNvSpPr txBox="1"/>
          <p:nvPr/>
        </p:nvSpPr>
        <p:spPr>
          <a:xfrm>
            <a:off x="5217295" y="672727"/>
            <a:ext cx="1444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Cluster n° 1 :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83406F2-80C7-479E-8C67-C18CEC2901D4}"/>
              </a:ext>
            </a:extLst>
          </p:cNvPr>
          <p:cNvSpPr txBox="1"/>
          <p:nvPr/>
        </p:nvSpPr>
        <p:spPr>
          <a:xfrm>
            <a:off x="9259780" y="692087"/>
            <a:ext cx="1444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Cluster n° 2 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190783-C18E-4D16-BFAF-8CEC1B47BA40}"/>
              </a:ext>
            </a:extLst>
          </p:cNvPr>
          <p:cNvSpPr txBox="1"/>
          <p:nvPr/>
        </p:nvSpPr>
        <p:spPr>
          <a:xfrm>
            <a:off x="1179498" y="3698941"/>
            <a:ext cx="1444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Cluster n° 3 :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AB6E655-1219-4A8F-B4E5-7832A864BD2A}"/>
              </a:ext>
            </a:extLst>
          </p:cNvPr>
          <p:cNvSpPr txBox="1"/>
          <p:nvPr/>
        </p:nvSpPr>
        <p:spPr>
          <a:xfrm>
            <a:off x="5217295" y="3693481"/>
            <a:ext cx="1444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Cluster n° 4 :</a:t>
            </a:r>
          </a:p>
        </p:txBody>
      </p:sp>
    </p:spTree>
    <p:extLst>
      <p:ext uri="{BB962C8B-B14F-4D97-AF65-F5344CB8AC3E}">
        <p14:creationId xmlns:p14="http://schemas.microsoft.com/office/powerpoint/2010/main" val="324336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21E9AF-3007-4525-B1BD-F19B6FFC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7751A-B2C0-4510-AE17-F015534CEE7B}" type="slidenum">
              <a:rPr lang="fr-FR" smtClean="0"/>
              <a:t>20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37AE587-15A2-4599-9E6E-9479714CD6DA}"/>
              </a:ext>
            </a:extLst>
          </p:cNvPr>
          <p:cNvSpPr txBox="1"/>
          <p:nvPr/>
        </p:nvSpPr>
        <p:spPr>
          <a:xfrm>
            <a:off x="1410318" y="953012"/>
            <a:ext cx="1444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Cluster n° 0 :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07FC392-962B-4FEA-A464-56FE0E8FD4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" r="49815" b="66472"/>
          <a:stretch/>
        </p:blipFill>
        <p:spPr>
          <a:xfrm>
            <a:off x="406756" y="1402671"/>
            <a:ext cx="3904635" cy="313381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1869416-D44D-4299-986D-1748546E8BA8}"/>
              </a:ext>
            </a:extLst>
          </p:cNvPr>
          <p:cNvSpPr txBox="1"/>
          <p:nvPr/>
        </p:nvSpPr>
        <p:spPr>
          <a:xfrm>
            <a:off x="233038" y="2192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C00000"/>
                </a:solidFill>
                <a:latin typeface="Montserrat" panose="00000500000000000000" pitchFamily="2" charset="0"/>
              </a:rPr>
              <a:t>Pays requalifiés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778A783-D60C-4FB8-B9E4-784D22A800AD}"/>
              </a:ext>
            </a:extLst>
          </p:cNvPr>
          <p:cNvSpPr txBox="1"/>
          <p:nvPr/>
        </p:nvSpPr>
        <p:spPr>
          <a:xfrm>
            <a:off x="4833351" y="1137678"/>
            <a:ext cx="6094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Royaume-Uni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Mexique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Arabie-Saoudite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Allemagne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Japon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Chine-Hong-Kong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latin typeface="Montserrat" panose="00000500000000000000" pitchFamily="2" charset="0"/>
              </a:rPr>
              <a:t>Pays-Bas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Montserrat" panose="00000500000000000000" pitchFamily="2" charset="0"/>
              </a:rPr>
              <a:t>Pologne</a:t>
            </a:r>
            <a:endParaRPr lang="fr-FR" sz="18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FF0000"/>
                </a:solidFill>
                <a:latin typeface="Montserrat" panose="00000500000000000000" pitchFamily="2" charset="0"/>
              </a:rPr>
              <a:t>Belgique</a:t>
            </a:r>
            <a:endParaRPr lang="fr-FR" sz="1800" dirty="0">
              <a:solidFill>
                <a:srgbClr val="FF0000"/>
              </a:solidFill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latin typeface="Montserrat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8B4745-757E-46EE-BF25-A7B92C8A28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0"/>
          <a:stretch/>
        </p:blipFill>
        <p:spPr>
          <a:xfrm>
            <a:off x="7880611" y="498316"/>
            <a:ext cx="3721583" cy="586136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0574E4D-A444-4E8F-B38E-7B97F53D85D1}"/>
              </a:ext>
            </a:extLst>
          </p:cNvPr>
          <p:cNvSpPr/>
          <p:nvPr/>
        </p:nvSpPr>
        <p:spPr>
          <a:xfrm>
            <a:off x="8025413" y="704299"/>
            <a:ext cx="2849733" cy="5208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0189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</TotalTime>
  <Words>318</Words>
  <Application>Microsoft Office PowerPoint</Application>
  <PresentationFormat>Grand écran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Montserrat</vt:lpstr>
      <vt:lpstr>Thème Office</vt:lpstr>
      <vt:lpstr>Produisez une étude de marché avec Python </vt:lpstr>
      <vt:lpstr>Nettoyage des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Produisez une étude de marché avec R ou Python </dc:title>
  <dc:creator>sarah</dc:creator>
  <cp:lastModifiedBy>sarah</cp:lastModifiedBy>
  <cp:revision>23</cp:revision>
  <dcterms:created xsi:type="dcterms:W3CDTF">2021-12-15T09:56:36Z</dcterms:created>
  <dcterms:modified xsi:type="dcterms:W3CDTF">2022-01-07T09:02:24Z</dcterms:modified>
</cp:coreProperties>
</file>